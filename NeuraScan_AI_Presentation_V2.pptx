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5" r:id="rId9"/>
    <p:sldId id="262" r:id="rId10"/>
    <p:sldId id="264" r:id="rId11"/>
    <p:sldId id="263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D3EE"/>
                </a:solidFill>
                <a:latin typeface="Arial"/>
              </a:defRPr>
            </a:pPr>
            <a:r>
              <a:t>NEURASCAN AI  •  CLINICAL INTELLIGENCE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4000" b="1">
                <a:solidFill>
                  <a:srgbClr val="FFFFFF"/>
                </a:solidFill>
                <a:latin typeface="Arial"/>
              </a:defRPr>
            </a:pPr>
            <a:r>
              <a:t>Automated Dementia Staging</a:t>
            </a:r>
            <a:br/>
            <a:r>
              <a:t>&amp; Multimodal MCI Conversion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600">
                <a:solidFill>
                  <a:srgbClr val="94A3B8"/>
                </a:solidFill>
                <a:latin typeface="Arial"/>
              </a:defRPr>
            </a:pPr>
            <a:r>
              <a:t>Leveraging deep-learning EfficientNet-B3 classification, regional brain volumetrics, and Grad-CAM explainability to bridge the AI trust gap in neurodiagnostics.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4864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Technical Presentation  |  HIPAA-Compliant Diagnostic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NEURASCAN AI : CLINICAL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The Problem: Challenges in Neurodiagnostics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3822072"/>
          </a:xfrm>
          <a:prstGeom prst="rect">
            <a:avLst/>
          </a:prstGeom>
          <a:noFill/>
        </p:spPr>
        <p:txBody>
          <a:bodyPr wrap="square" lIns="274320" tIns="274320" rIns="274320" bIns="27432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11D48"/>
                </a:solidFill>
                <a:latin typeface="Arial"/>
              </a:defRPr>
            </a:pPr>
            <a:r>
              <a:rPr dirty="0"/>
              <a:t>Clinical &amp; Image Limitations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dirty="0"/>
              <a:t>•  </a:t>
            </a:r>
            <a:r>
              <a:rPr sz="1600" dirty="0"/>
              <a:t>Late Detection: Early cognitive decline (Very Mild Dementia) is frequently missed in traditional clinical observations.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•  Manual MRI Overhead: Radiologists must manually inspect hundreds of slices, which is time-consuming and subjective.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•  Subtle Structural Changes: Localized tissue loss in key regions (hippocampus and entorhinal cortex) is difficult to quantify visually.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120640" cy="3822072"/>
          </a:xfrm>
          <a:prstGeom prst="rect">
            <a:avLst/>
          </a:prstGeom>
          <a:noFill/>
        </p:spPr>
        <p:txBody>
          <a:bodyPr wrap="square" lIns="274320" tIns="274320" rIns="274320" bIns="27432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11D48"/>
                </a:solidFill>
                <a:latin typeface="Arial"/>
              </a:defRPr>
            </a:pPr>
            <a:r>
              <a:rPr dirty="0"/>
              <a:t>The Technical Trust &amp; Integration Gap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•  The 'Black Box' Hurdle: Clinicians reject deep learning diagnostics when the models fail to provide visual explanations of their reasoning.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•  Fragmented Clinical Data: Imaging results, cognitive scores (MMSE), genetics (APOE4), and clinical staging remain siloed.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•  Data Security &amp; Audit Trails: Clinics lack tamper-proof tracking of who ran model inference and which model hash was executed.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NEURASCAN AI : CLINICAL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The Solution: NeuraScan AI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1844095"/>
          </a:xfrm>
          <a:prstGeom prst="rect">
            <a:avLst/>
          </a:prstGeom>
          <a:noFill/>
        </p:spPr>
        <p:txBody>
          <a:bodyPr wrap="square" lIns="274320" tIns="274320" rIns="274320" bIns="27432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rPr dirty="0"/>
              <a:t>1. Automated MRI Ingestion Pipeline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Ingests DICOM and </a:t>
            </a:r>
            <a:r>
              <a:rPr sz="1600" dirty="0" err="1"/>
              <a:t>NIfTI</a:t>
            </a:r>
            <a:r>
              <a:rPr sz="1600" dirty="0"/>
              <a:t> volumes, stripping the skull bone, correcting bias fields, and segmenting tissues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120640" cy="1844095"/>
          </a:xfrm>
          <a:prstGeom prst="rect">
            <a:avLst/>
          </a:prstGeom>
          <a:noFill/>
        </p:spPr>
        <p:txBody>
          <a:bodyPr wrap="square" lIns="274320" tIns="274320" rIns="274320" bIns="27432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rPr dirty="0"/>
              <a:t>2. </a:t>
            </a:r>
            <a:r>
              <a:rPr dirty="0" err="1"/>
              <a:t>EfficientNet</a:t>
            </a:r>
            <a:r>
              <a:rPr dirty="0"/>
              <a:t> Dementia Classifier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Runs multi-class deep learning inference, staging patients into Mild, Moderate, Very Mild, or Non-Demented states.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5120640" cy="1844095"/>
          </a:xfrm>
          <a:prstGeom prst="rect">
            <a:avLst/>
          </a:prstGeom>
          <a:noFill/>
        </p:spPr>
        <p:txBody>
          <a:bodyPr wrap="square" lIns="274320" tIns="274320" rIns="274320" bIns="27432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rPr dirty="0"/>
              <a:t>3. Transparent Explainability (XAI)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Computes live Grad-CAM saliency maps to visually isolate the regions of the brain driving classification.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4023360"/>
            <a:ext cx="5120640" cy="1844095"/>
          </a:xfrm>
          <a:prstGeom prst="rect">
            <a:avLst/>
          </a:prstGeom>
          <a:noFill/>
        </p:spPr>
        <p:txBody>
          <a:bodyPr wrap="square" lIns="274320" tIns="274320" rIns="274320" bIns="27432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rPr dirty="0"/>
              <a:t>4. Multimodal Biomarker Staging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Fuses genetics (APOE4), cognitive scores (MMSE), and volumetric metrics to predict 24-month Alzheimer's conversion.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NEURASCAN AI : CLINICAL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Automated 4-Step MRI Preprocessing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468880" cy="4028603"/>
          </a:xfrm>
          <a:prstGeom prst="rect">
            <a:avLst/>
          </a:prstGeom>
          <a:noFill/>
        </p:spPr>
        <p:txBody>
          <a:bodyPr wrap="square" lIns="274320" tIns="274320" rIns="274320" bIns="27432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rPr dirty="0"/>
              <a:t>Step 1: Skull Stripping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Goal: Isolate brain matter.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Method: Applies a central elliptical mask to zero out the background skull bone.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Refinement: Employs a Gaussian blur to create smooth transition edges.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29000" y="1645920"/>
            <a:ext cx="2468880" cy="3770071"/>
          </a:xfrm>
          <a:prstGeom prst="rect">
            <a:avLst/>
          </a:prstGeom>
          <a:noFill/>
        </p:spPr>
        <p:txBody>
          <a:bodyPr wrap="square" lIns="274320" tIns="274320" rIns="274320" bIns="27432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rPr dirty="0"/>
              <a:t>Step 2: Bias Correction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Goal: Standardize intensity.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Method: Applies histogram equalization.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Blend: Blends the equalized image (40%) with the stripped image to keep structural textures natural.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1645920"/>
            <a:ext cx="2468880" cy="3484672"/>
          </a:xfrm>
          <a:prstGeom prst="rect">
            <a:avLst/>
          </a:prstGeom>
          <a:noFill/>
        </p:spPr>
        <p:txBody>
          <a:bodyPr wrap="square" lIns="274320" tIns="274320" rIns="274320" bIns="27432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rPr dirty="0"/>
              <a:t>Step 3: Spatial Normalization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Goal: Scale and align.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Method: Standardizes resolution by resizing the slice to 224x224 pixels.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Interpolation: Uses LANCZOS resampling to prevent </a:t>
            </a:r>
            <a:r>
              <a:rPr sz="1400" dirty="0" err="1"/>
              <a:t>artifacting</a:t>
            </a:r>
            <a:r>
              <a:rPr sz="1400"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23960" y="1645920"/>
            <a:ext cx="2468880" cy="4287136"/>
          </a:xfrm>
          <a:prstGeom prst="rect">
            <a:avLst/>
          </a:prstGeom>
          <a:noFill/>
        </p:spPr>
        <p:txBody>
          <a:bodyPr wrap="square" lIns="274320" tIns="274320" rIns="274320" bIns="27432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rPr dirty="0"/>
              <a:t>Step 4: Segmentation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Goal: Color tissue groups.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Thresholds: Separates CSF (Blue), Gray Matter (Green), and White Matter (Orange).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Result: Overlays tissue colors onto the gray slice with 40% opacity.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NEURASCAN AI : CLINICAL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Dementia Classifier &amp; Grad-CAM XAI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515595"/>
          </a:xfrm>
          <a:prstGeom prst="rect">
            <a:avLst/>
          </a:prstGeom>
          <a:noFill/>
        </p:spPr>
        <p:txBody>
          <a:bodyPr wrap="square" lIns="274320" tIns="274320" rIns="274320" bIns="27432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rPr dirty="0" err="1"/>
              <a:t>DementiaNet</a:t>
            </a:r>
            <a:r>
              <a:rPr dirty="0"/>
              <a:t> Staging Model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•  Base Architecture: Built on </a:t>
            </a:r>
            <a:r>
              <a:rPr sz="1600" dirty="0" err="1"/>
              <a:t>timm's</a:t>
            </a:r>
            <a:r>
              <a:rPr sz="1600" dirty="0"/>
              <a:t> EfficientNet-B3 backbone.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•  Custom MLP Head: Employs Linear projection layers, Batch Normalization, </a:t>
            </a:r>
            <a:r>
              <a:rPr sz="1600" dirty="0" err="1"/>
              <a:t>ReLU</a:t>
            </a:r>
            <a:r>
              <a:rPr sz="1600" dirty="0"/>
              <a:t> activations, and Dropout (30%) to reduce overfitting.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•  Four-Class Stage Output: Classifies into Non-Demented, Very Mild, Mild, and Moderate Demented.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•  Interactive Clinician Console: Displays full probability breakdowns alongside clinical findings and recommended pathways.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 lIns="274320" tIns="274320" rIns="274320" bIns="27432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rPr dirty="0"/>
              <a:t>Explainable AI (Grad-CAM)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Activation Hooking: Registers forward and backward gradient hooks on the final convolutional layer (</a:t>
            </a:r>
            <a:r>
              <a:rPr sz="1400" dirty="0" err="1"/>
              <a:t>backbone.conv_head</a:t>
            </a:r>
            <a:r>
              <a:rPr sz="1400" dirty="0"/>
              <a:t>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Heatmap Generation: Computes weighted combinations of activation maps, projects them, and applies a Jet </a:t>
            </a:r>
            <a:r>
              <a:rPr sz="1400" dirty="0" err="1"/>
              <a:t>ColorMap</a:t>
            </a:r>
            <a:r>
              <a:rPr sz="1400" dirty="0"/>
              <a:t>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Visual Superimposition: Overlays the heatmap onto the normalized scan at a variable opacity (adjustable by the clinician).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Diagnostic Trust: Allows neurologists to verify that the model is targeting the hippocampus and cortical thinning regions.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NEURASCAN AI : CLINICAL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Biomarker Predictor &amp; Brain Age Tracker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3836563"/>
          </a:xfrm>
          <a:prstGeom prst="rect">
            <a:avLst/>
          </a:prstGeom>
          <a:noFill/>
        </p:spPr>
        <p:txBody>
          <a:bodyPr wrap="square" lIns="274320" tIns="274320" rIns="274320" bIns="27432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rPr dirty="0"/>
              <a:t>MCI 24-Month Conversion Risk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Multimodal Biomarkers: Combines demographic (Age, Gender, Education), genetic (APOE4 Status), and cognitive exam data (MMSE, CDR).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Volumetric Metrics: Integrates automated Hippocampal, Entorhinal, and Ventricular volumes.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Risk Assessment Output: Computes 24-month probability percentage, risk category (Low, Mild, High), and model confidence score.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Ablation Studies: Allows clinicians to isolate clinical features, imaging metrics, or run multimodal fusion.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120640" cy="3836563"/>
          </a:xfrm>
          <a:prstGeom prst="rect">
            <a:avLst/>
          </a:prstGeom>
          <a:noFill/>
        </p:spPr>
        <p:txBody>
          <a:bodyPr wrap="square" lIns="274320" tIns="274320" rIns="274320" bIns="27432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rPr dirty="0"/>
              <a:t>Brain Age Tracker (</a:t>
            </a:r>
            <a:r>
              <a:rPr dirty="0" err="1"/>
              <a:t>NeuroScore</a:t>
            </a:r>
            <a:r>
              <a:rPr dirty="0"/>
              <a:t>™)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Brain Age Estimation: Measures the 'Brain Age Gap' (Predicted Brain Age vs. Chronological Age) via structural changes.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</a:t>
            </a:r>
            <a:r>
              <a:rPr sz="1400" dirty="0" err="1"/>
              <a:t>NeuroScore</a:t>
            </a:r>
            <a:r>
              <a:rPr sz="1400" dirty="0"/>
              <a:t> Dashboard: Aggregates overall brain health index score on a scale of 0-100.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Regional Volume Analysis: Compares Expected Volume vs. Current Volume for regions (Hippocampus, Frontal Lobe, Temporal Lobe).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Longitudinal View: Graphs brain health index degradation and ventricular volume changes over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NEURASCAN AI : MARKET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Challenge 1: User Feedback Log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503956"/>
              </p:ext>
            </p:extLst>
          </p:nvPr>
        </p:nvGraphicFramePr>
        <p:xfrm>
          <a:off x="731520" y="1645920"/>
          <a:ext cx="10725912" cy="4502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9095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Participant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Liked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Scope of Improvement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Changes Made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rPr sz="1600" dirty="0"/>
                        <a:t>Dr. Meena Ugale</a:t>
                      </a:r>
                    </a:p>
                    <a:p>
                      <a:r>
                        <a:rPr sz="1600" dirty="0"/>
                        <a:t>(Researcher)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rPr sz="1600" dirty="0"/>
                        <a:t>ML approach &amp; </a:t>
                      </a:r>
                      <a:r>
                        <a:rPr sz="1600" dirty="0" err="1"/>
                        <a:t>EfficientNet</a:t>
                      </a:r>
                      <a:r>
                        <a:rPr sz="1600" dirty="0"/>
                        <a:t>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rPr sz="1600" dirty="0"/>
                        <a:t>Use more advanced model &amp; publish findings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rPr sz="1600" dirty="0"/>
                        <a:t>Ported model to EfficientNet-B3 backbone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rPr sz="1600" dirty="0"/>
                        <a:t>Waqas Khan</a:t>
                      </a:r>
                    </a:p>
                    <a:p>
                      <a:r>
                        <a:rPr sz="1600" dirty="0"/>
                        <a:t>(Medical Student)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rPr sz="1600" dirty="0"/>
                        <a:t>Saliency highlights isolated anatomical variations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rPr sz="1600" dirty="0"/>
                        <a:t>Provide slide controls to narrow down micro-lesion scopes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rPr sz="1600" dirty="0"/>
                        <a:t>Added dynamic sliding </a:t>
                      </a:r>
                      <a:r>
                        <a:rPr sz="1600" dirty="0" err="1"/>
                        <a:t>seekbar</a:t>
                      </a:r>
                      <a:r>
                        <a:rPr sz="1600" dirty="0"/>
                        <a:t> for Grad-CAM overlay opacity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rPr sz="1600" dirty="0"/>
                        <a:t>Patient</a:t>
                      </a:r>
                    </a:p>
                    <a:p>
                      <a:r>
                        <a:rPr sz="1600" dirty="0"/>
                        <a:t>(Anonymized)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rPr sz="1600" dirty="0"/>
                        <a:t>Strong workflow, highly intuitive diagnostic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rPr sz="1600" dirty="0"/>
                        <a:t>Ensure system meets strict regulatory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rPr sz="1800" dirty="0"/>
                        <a:t>Configured end-to-end HIPAA compliance and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rPr sz="1600" dirty="0"/>
                        <a:t>Dr. Mayuri Lad</a:t>
                      </a:r>
                    </a:p>
                    <a:p>
                      <a:r>
                        <a:rPr sz="1600" dirty="0"/>
                        <a:t>(Biomechanics Doctor)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rPr sz="1600" dirty="0"/>
                        <a:t>Improves regional clinical triage efficiency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rPr sz="1600" dirty="0"/>
                        <a:t>Add early MCI risk forecast conversions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rPr sz="1600" dirty="0"/>
                        <a:t>Integrated cross-attention multimodal predictor (M3)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NEURASCAN AI :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Challenge 2: Revenue &amp; Unit Economics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9319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031866" cy="4617720"/>
          </a:xfrm>
          <a:prstGeom prst="rect">
            <a:avLst/>
          </a:prstGeom>
          <a:noFill/>
        </p:spPr>
        <p:txBody>
          <a:bodyPr wrap="square" lIns="182880" tIns="274320" rIns="182880" bIns="27432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284C7"/>
                </a:solidFill>
              </a:defRPr>
            </a:pPr>
            <a:r>
              <a:rPr dirty="0"/>
              <a:t>Pricing &amp; Projections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rPr sz="1400" dirty="0"/>
              <a:t>•  Starter: Small Clinics @ ₹9,999/</a:t>
            </a:r>
            <a:r>
              <a:rPr sz="1400" dirty="0" err="1"/>
              <a:t>mo</a:t>
            </a:r>
            <a:r>
              <a:rPr sz="1400" dirty="0"/>
              <a:t> (includes 50 scans, overage: ₹250/scan).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rPr sz="1400" dirty="0"/>
              <a:t>•  Professional: Diagnostic Centers @ ₹24,999/</a:t>
            </a:r>
            <a:r>
              <a:rPr sz="1400" dirty="0" err="1"/>
              <a:t>mo</a:t>
            </a:r>
            <a:r>
              <a:rPr sz="1400" dirty="0"/>
              <a:t> (includes 150 scans, overage: ₹200/scan).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rPr sz="1400" dirty="0"/>
              <a:t>•  Enterprise API: Telehealth Platforms @ Custom Token-Based Billing.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rPr sz="1400" dirty="0"/>
              <a:t>•  Target Active User Base: 80 Premium Clinics (8%) + 920 Individual Pay-Per-Scan Doctors (92%) = 1,000 active users.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rPr sz="1400" dirty="0"/>
              <a:t>•  Monthly Target Revenue: ₹10,00,000 / month (Example: 60 Starter + 15 Professional).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rPr sz="1400" dirty="0"/>
              <a:t>•  Monthly Infrastructure Costs: ₹3,45,000 / month (GPU Cloud: ₹2.5L, Compliance: ₹50K, DB/APIs: ₹45K).</a:t>
            </a:r>
          </a:p>
        </p:txBody>
      </p:sp>
      <p:pic>
        <p:nvPicPr>
          <p:cNvPr id="6" name="Picture 5" descr="WhatsApp Image 2026-06-28 at 1.00.41 P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45920"/>
            <a:ext cx="6611112" cy="4389120"/>
          </a:xfrm>
          <a:prstGeom prst="rect">
            <a:avLst/>
          </a:prstGeom>
          <a:ln w="1905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NEURASCAN AI : CLINICAL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Challenge 3: System Architecture &amp; Technical Moat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9319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931920" cy="4437112"/>
          </a:xfrm>
          <a:prstGeom prst="rect">
            <a:avLst/>
          </a:prstGeom>
          <a:noFill/>
        </p:spPr>
        <p:txBody>
          <a:bodyPr wrap="square" lIns="182880" tIns="274320" rIns="182880" bIns="27432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rPr dirty="0"/>
              <a:t>Architectural Defenses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rPr dirty="0"/>
              <a:t>•  </a:t>
            </a:r>
            <a:r>
              <a:rPr sz="1400" dirty="0"/>
              <a:t>NGINX TLS Proxy: Terminates traffic, acts as API Gateway and checks session JWT tokens.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rPr sz="1400" dirty="0"/>
              <a:t>•  Security layers: Web Application Firewall (WAF) enforces host whitelists, CORS, and rate limits.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rPr sz="1400" dirty="0"/>
              <a:t>•  HIPAA Audit Trails: Generates and records operator credentials and ABHA queries in SQLite tables.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rPr sz="1400" dirty="0"/>
              <a:t>•  Memory Caches: Clustered Redis caching sessions, dashboard metrics, and preprocessed slices.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rPr sz="1400" dirty="0"/>
              <a:t>•  Grad-CAM Hooks: Active model gradients calculated dynamically prevent simple static scraper cloning.</a:t>
            </a:r>
          </a:p>
        </p:txBody>
      </p:sp>
      <p:pic>
        <p:nvPicPr>
          <p:cNvPr id="6" name="Picture 5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45920"/>
            <a:ext cx="6611112" cy="4389120"/>
          </a:xfrm>
          <a:prstGeom prst="rect">
            <a:avLst/>
          </a:prstGeom>
          <a:ln w="1905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NEURASCAN AI : SCALABILITY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Challenge 5: Scale &amp; Expansion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134465"/>
          </a:xfrm>
          <a:prstGeom prst="rect">
            <a:avLst/>
          </a:prstGeom>
          <a:noFill/>
        </p:spPr>
        <p:txBody>
          <a:bodyPr wrap="square" lIns="274320" tIns="274320" rIns="274320" bIns="27432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284C7"/>
                </a:solidFill>
              </a:defRPr>
            </a:pPr>
            <a:r>
              <a:rPr dirty="0"/>
              <a:t>Phase 1 &amp; 2: Database &amp; Load Balancing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dirty="0"/>
              <a:t>•   </a:t>
            </a:r>
            <a:r>
              <a:rPr sz="1600" dirty="0"/>
              <a:t>M1-M2: Database Optimization: Migrate SQLite to AWS RDS PostgreSQL with </a:t>
            </a:r>
            <a:r>
              <a:rPr sz="1600" dirty="0" err="1"/>
              <a:t>PgBouncer</a:t>
            </a:r>
            <a:r>
              <a:rPr sz="1600" dirty="0"/>
              <a:t> connection pooling.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1600" dirty="0"/>
              <a:t>•   Composite Indexes: Index patients(status, </a:t>
            </a:r>
            <a:r>
              <a:rPr sz="1600" dirty="0" err="1"/>
              <a:t>riskCategory</a:t>
            </a:r>
            <a:r>
              <a:rPr sz="1600" dirty="0"/>
              <a:t>), </a:t>
            </a:r>
            <a:r>
              <a:rPr sz="1600" dirty="0" err="1"/>
              <a:t>mri_scans</a:t>
            </a:r>
            <a:r>
              <a:rPr sz="1600" dirty="0"/>
              <a:t>(</a:t>
            </a:r>
            <a:r>
              <a:rPr sz="1600" dirty="0" err="1"/>
              <a:t>patientId</a:t>
            </a:r>
            <a:r>
              <a:rPr sz="1600" dirty="0"/>
              <a:t>), and </a:t>
            </a:r>
            <a:r>
              <a:rPr sz="1600" dirty="0" err="1"/>
              <a:t>audit_logs</a:t>
            </a:r>
            <a:r>
              <a:rPr sz="1600" dirty="0"/>
              <a:t>(timestamp).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1600" dirty="0"/>
              <a:t>•   M3-M4: Load Balancing: Containerize API (Docker) and deploy to AWS ECS/EKS using ALB load balancer.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1600" dirty="0"/>
              <a:t>•   CDN Caching: Cache static files, preprocessed MRI slices, and Grad-CAM overlays close to edge nodes on CloudFront.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120640" cy="4442242"/>
          </a:xfrm>
          <a:prstGeom prst="rect">
            <a:avLst/>
          </a:prstGeom>
          <a:noFill/>
        </p:spPr>
        <p:txBody>
          <a:bodyPr wrap="square" lIns="274320" tIns="274320" rIns="274320" bIns="27432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284C7"/>
                </a:solidFill>
              </a:defRPr>
            </a:pPr>
            <a:r>
              <a:rPr dirty="0"/>
              <a:t>Phase 3: Dedicated Model Inference (Triton)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1600" dirty="0"/>
              <a:t>•   M5-M6: Inference Scaling: Decouple </a:t>
            </a:r>
            <a:r>
              <a:rPr sz="1600" dirty="0" err="1"/>
              <a:t>PyTorch</a:t>
            </a:r>
            <a:r>
              <a:rPr sz="1600" dirty="0"/>
              <a:t> from Flask and deploy </a:t>
            </a:r>
            <a:r>
              <a:rPr sz="1600" dirty="0" err="1"/>
              <a:t>DementiaNet</a:t>
            </a:r>
            <a:r>
              <a:rPr sz="1600" dirty="0"/>
              <a:t> on Triton Inference Server.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1600" dirty="0"/>
              <a:t>•   Dynamic Batching: Group multiple independent clinician scans to run concurrent inference on GPU instances.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1600" dirty="0"/>
              <a:t>•   GPU Auto-scaling: Configure Horizontal Pod </a:t>
            </a:r>
            <a:r>
              <a:rPr sz="1600" dirty="0" err="1"/>
              <a:t>Autoscaler</a:t>
            </a:r>
            <a:r>
              <a:rPr sz="1600" dirty="0"/>
              <a:t> (HPA) to spin GPU nodes when utilization exceeds 75%.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1600" dirty="0"/>
              <a:t>•   Async Queue: Implement Celery + RabbitMQ for background </a:t>
            </a:r>
            <a:r>
              <a:rPr sz="1600" dirty="0" err="1"/>
              <a:t>NIfTI</a:t>
            </a:r>
            <a:r>
              <a:rPr sz="1600" dirty="0"/>
              <a:t>/DICOM pre-processing pipelines.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NEURASCAN AI : CLINICAL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Features Planned &amp; Mentor Support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291840" cy="4413003"/>
          </a:xfrm>
          <a:prstGeom prst="rect">
            <a:avLst/>
          </a:prstGeom>
          <a:noFill/>
        </p:spPr>
        <p:txBody>
          <a:bodyPr wrap="square" lIns="274320" tIns="274320" rIns="274320" bIns="27432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284C7"/>
                </a:solidFill>
                <a:latin typeface="Arial"/>
              </a:defRPr>
            </a:pPr>
            <a:r>
              <a:rPr dirty="0"/>
              <a:t>Planned Features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dirty="0"/>
              <a:t>•  </a:t>
            </a:r>
            <a:r>
              <a:rPr sz="1600" dirty="0"/>
              <a:t>PDF Clinical Report Export: One-click generation of print-ready patient summaries.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•  Multi-Slice axial scrollable viewer: Allow scanning through multiple spatial coordinates.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•  SHAP Feature Importance Graphs: Visualizing weightings of cognitive scores and genetic risk variables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3291840" cy="4117537"/>
          </a:xfrm>
          <a:prstGeom prst="rect">
            <a:avLst/>
          </a:prstGeom>
          <a:noFill/>
        </p:spPr>
        <p:txBody>
          <a:bodyPr wrap="square" lIns="274320" tIns="274320" rIns="274320" bIns="27432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9488"/>
                </a:solidFill>
                <a:latin typeface="Arial"/>
              </a:defRPr>
            </a:pPr>
            <a:r>
              <a:rPr dirty="0"/>
              <a:t>HL7 / FHIR Integration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•  EHR Pipelines: Link the platform directly into hospital systems to pull patient charts.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•  HIPAA Integrity: Expand compliance tracking using localized cryptographic log blocks.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600" dirty="0"/>
              <a:t>•  DICOM PACs Node: Deploy as a listener to receive scans directly from MRI devices.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1645920"/>
            <a:ext cx="3291840" cy="4028603"/>
          </a:xfrm>
          <a:prstGeom prst="rect">
            <a:avLst/>
          </a:prstGeom>
          <a:noFill/>
        </p:spPr>
        <p:txBody>
          <a:bodyPr wrap="square" lIns="274320" tIns="274320" rIns="274320" bIns="27432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E11D48"/>
                </a:solidFill>
                <a:latin typeface="Arial"/>
              </a:defRPr>
            </a:pPr>
            <a:r>
              <a:rPr dirty="0"/>
              <a:t>Mentor Support</a:t>
            </a:r>
            <a:r>
              <a:rPr lang="en-US" dirty="0"/>
              <a:t> Requests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lang="en-US" sz="1400" dirty="0"/>
              <a:t>•  Clinical Cross-Validation: Advice on reducing scanner-specific intensity biases (1.5T vs 3.0T).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Model Compression: Guidelines for ONNX quantization and Knowledge Distillation to reduce GPU latency.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0F172A"/>
                </a:solidFill>
                <a:latin typeface="Arial"/>
              </a:defRPr>
            </a:pPr>
            <a:r>
              <a:rPr sz="1400" dirty="0"/>
              <a:t>•  Regulatory Pathways: Guidance on FDA Software as a Medical Device (SaMD) clearances.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1529</Words>
  <Application>Microsoft Office PowerPoint</Application>
  <PresentationFormat>Custom</PresentationFormat>
  <Paragraphs>135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Dinesh Suthar</cp:lastModifiedBy>
  <cp:revision>2</cp:revision>
  <dcterms:created xsi:type="dcterms:W3CDTF">2013-01-27T09:14:16Z</dcterms:created>
  <dcterms:modified xsi:type="dcterms:W3CDTF">2026-06-28T08:08:36Z</dcterms:modified>
  <cp:category/>
</cp:coreProperties>
</file>